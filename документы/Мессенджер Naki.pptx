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74" r:id="rId4"/>
    <p:sldId id="273" r:id="rId5"/>
    <p:sldId id="258" r:id="rId6"/>
    <p:sldId id="275" r:id="rId7"/>
    <p:sldId id="267" r:id="rId8"/>
    <p:sldId id="276" r:id="rId9"/>
    <p:sldId id="268" r:id="rId10"/>
    <p:sldId id="265" r:id="rId11"/>
    <p:sldId id="266" r:id="rId12"/>
    <p:sldId id="269" r:id="rId13"/>
    <p:sldId id="259" r:id="rId14"/>
    <p:sldId id="262" r:id="rId15"/>
    <p:sldId id="270" r:id="rId16"/>
    <p:sldId id="263" r:id="rId17"/>
    <p:sldId id="264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8B8D"/>
    <a:srgbClr val="143642"/>
    <a:srgbClr val="EC9A29"/>
    <a:srgbClr val="F8DAB0"/>
    <a:srgbClr val="DAD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416C5-33AA-4305-A8E5-EBC57A851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27505F-57BC-4B93-9630-458ADD77B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1F707-CEB8-4417-BC86-CC55FD30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1D7E2D-1411-4AED-9D96-EA720713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2A9B43-93B8-4632-8063-73342B8D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069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5797E-27B9-42D8-8655-1C41368AB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21C09-9CAF-4FD6-BD99-29526DCBB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B4A7E9-F8A0-4156-AE32-F1E352E90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6E6F16-9129-4EC5-B59E-8C479833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F1D0C4-52BF-4BB7-9336-A4246B45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47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825E4-3410-4B95-8413-A4537B5D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5E2CE4-8003-458E-8CED-401B70661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49C6B5-BC5E-4871-9107-050933D1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ED224F-D2C4-419F-977B-F1A7DC35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9D5B03-C994-4946-B67E-3C5B495B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7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00825-2644-4208-8669-30D62BDB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5D05B-B513-429E-AA8D-7B5017969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089305-CBB1-48CF-8B5F-55F884770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9096A1-D0B1-464C-A7BB-19B7ED0B3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1D663F-DB28-452E-919B-E24D2BD1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AFFA80-FB96-4F78-82D5-9D90B647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985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A06D3-D30B-47F1-A1D8-A2C934A1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F06288-8B75-4CA2-8087-613EDD292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79FCC0-FDEA-4F57-97E5-512404360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E2A552-173C-4C55-B7F1-3D1A06EDA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A9ED3A9-FB9A-4B2E-9D4C-788866298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6BB7BDF-69A2-4F4E-BB64-1A0A580E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18E1E75-5BAB-4009-BBED-42048EA3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8859146-C9BA-4843-A65D-2EB8BA92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18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4AB6B-7A1A-44D2-B5C3-ED5852C6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296EAB-AD44-4905-AAA4-96446F60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9BBED1-A864-4872-B8D4-07007334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29F4A1-ACA3-4DB0-ADA1-B934E9BD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303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EC6215C-4B3A-4AAF-B3AC-4CC9DEBD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F481DC9-CDCA-4B93-89D2-443827F0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E6A266-CCC7-4D12-B344-4714A804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35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8912A-AF72-4A01-B25D-FB10AAFE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3A5442-2F37-42A7-9D58-77EE99AEA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8BFC1A-53F8-435A-9DCD-A66500D58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61669B-D33B-42B5-B89D-E8DCC5307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C50534-75C8-4611-AE98-BA2A8DA0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FB3D72-755B-42B4-9E98-BB1F85C4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050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566C8-FC35-42BF-BF7C-6477B8EE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C49AC92-FD75-498A-BE63-076682776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48D1AB-659F-4F5A-AE57-72CBD5387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6DBE3F-021A-4838-B78B-E48B0635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590973-43E9-452E-BEFC-2EACF568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2FB8B4-7A30-49E0-B513-67D7F416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38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4433A-FD3C-45F3-A11D-822ABE07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905C816-0F9C-40B4-9333-3FC9FAF54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0DA83E-6EB3-4D05-B6ED-88BF5B13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8CAD21-6A2E-480A-A63D-EFAC52B2E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DFD997-3D01-4521-9C82-4EA7E9BA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21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C318A06-E6C2-4834-9F01-76593022C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1FA0EC-78C1-4446-AEC2-72093B555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75996A-A471-49D2-87D7-0C94FBFE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F4FE-3ABE-4D79-BD55-1C23135AD9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338A14-BD0D-49EE-BAFD-CA26260B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8B3C96-70CF-4817-B4C9-E5E3FBD3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72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4AD69-6402-40E8-BF6B-E4C86D50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3CE6B6-06A6-49D3-AB14-2D8C0385E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9E3F79-9F6E-46A8-BA85-4E49B330A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AF4FE-3ABE-4D79-BD55-1C23135AD9DB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3CB796-EAA0-4E82-8F9F-14866504A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458D06-A24A-4CCB-949F-1FA725D51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112FB-6E7E-4ED3-BF68-DB34980A3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89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EC627B-9E96-4AA6-88B2-398DF7E6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760" y="574765"/>
            <a:ext cx="10776479" cy="1037926"/>
          </a:xfrm>
        </p:spPr>
        <p:txBody>
          <a:bodyPr>
            <a:normAutofit/>
          </a:bodyPr>
          <a:lstStyle/>
          <a:p>
            <a:pPr algn="ctr"/>
            <a:r>
              <a:rPr lang="ru-RU" sz="5000" b="1" dirty="0">
                <a:solidFill>
                  <a:srgbClr val="0F8B8D"/>
                </a:solidFill>
                <a:latin typeface="Nitro"/>
              </a:rPr>
              <a:t>Мессенджер </a:t>
            </a:r>
            <a:r>
              <a:rPr lang="en-US" sz="5000" b="1" dirty="0">
                <a:solidFill>
                  <a:srgbClr val="0F8B8D"/>
                </a:solidFill>
                <a:latin typeface="Nitro"/>
              </a:rPr>
              <a:t>Naki</a:t>
            </a:r>
            <a:endParaRPr lang="ru-RU" sz="5000" dirty="0">
              <a:solidFill>
                <a:srgbClr val="0F8B8D"/>
              </a:solidFill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FEAA70A-DC32-41F6-8C3C-233D12255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7760" y="2059576"/>
            <a:ext cx="11031394" cy="387436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000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У</a:t>
            </a: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частник</a:t>
            </a:r>
            <a:r>
              <a:rPr lang="en-US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ученик 10 </a:t>
            </a:r>
            <a:r>
              <a:rPr lang="ru-RU" sz="30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«Н»</a:t>
            </a:r>
            <a:r>
              <a:rPr lang="ru-RU" sz="3000" spc="-5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 </a:t>
            </a:r>
            <a:r>
              <a:rPr lang="ru-RU" sz="30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класса</a:t>
            </a:r>
            <a:r>
              <a:rPr lang="en-US" sz="30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 </a:t>
            </a: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ГБОУ Инженерная школа </a:t>
            </a:r>
            <a:r>
              <a:rPr lang="ru-RU" sz="30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Arial" panose="020B0604020202020204" pitchFamily="34" charset="0"/>
              </a:rPr>
              <a:t>№</a:t>
            </a: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1581</a:t>
            </a:r>
            <a:r>
              <a:rPr lang="en-US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endParaRPr lang="ru-RU" sz="3000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000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Ч</a:t>
            </a: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угреев </a:t>
            </a:r>
            <a:r>
              <a:rPr lang="ru-RU" sz="3000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Н</a:t>
            </a: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икита </a:t>
            </a:r>
            <a:r>
              <a:rPr lang="ru-RU" sz="3000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</a:t>
            </a: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ергеевич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3000" dirty="0">
              <a:solidFill>
                <a:srgbClr val="0F8B8D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000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Р</a:t>
            </a: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уководитель</a:t>
            </a:r>
            <a:r>
              <a:rPr lang="en-US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:</a:t>
            </a: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endParaRPr lang="en-US" sz="3000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Старший преподаватель МГТУ им</a:t>
            </a:r>
            <a:r>
              <a:rPr lang="en-US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Н</a:t>
            </a:r>
            <a:r>
              <a:rPr lang="en-US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Э</a:t>
            </a:r>
            <a:r>
              <a:rPr lang="en-US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r>
              <a:rPr lang="ru-RU" sz="30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Баумана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000" dirty="0">
                <a:solidFill>
                  <a:srgbClr val="0F8B8D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К</a:t>
            </a:r>
            <a:r>
              <a:rPr lang="ru-RU" sz="30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овынёв </a:t>
            </a:r>
            <a:r>
              <a:rPr lang="ru-RU" sz="3000" dirty="0">
                <a:solidFill>
                  <a:srgbClr val="0F8B8D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Н</a:t>
            </a:r>
            <a:r>
              <a:rPr lang="ru-RU" sz="30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иколай </a:t>
            </a:r>
            <a:r>
              <a:rPr lang="ru-RU" sz="3000" dirty="0">
                <a:solidFill>
                  <a:srgbClr val="0F8B8D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В</a:t>
            </a:r>
            <a:r>
              <a:rPr lang="ru-RU" sz="3000" dirty="0">
                <a:solidFill>
                  <a:srgbClr val="143642"/>
                </a:solidFill>
                <a:effectLst/>
                <a:latin typeface="Bahnschrift SemiBold SemiConden" panose="020B0502040204020203" pitchFamily="34" charset="0"/>
                <a:ea typeface="Times New Roman" panose="02020603050405020304" pitchFamily="18" charset="0"/>
              </a:rPr>
              <a:t>итальевич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AC83852-54CD-4C67-B46A-AB94E43E6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106" y="3534733"/>
            <a:ext cx="1800476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269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94D21-F86E-41B8-8284-CB6AC50C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Вводная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922138-3C6D-4915-A43F-6AEFBA0F2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242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П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роблема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разработчики мессенджеров могут расшифровать сообщения.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А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ктуальность</a:t>
            </a:r>
            <a:r>
              <a:rPr lang="en-US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: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Все больше людей переходят с общения в живую на общения в мессенджерах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043F50-AF79-4C92-B13B-6289AA3D8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661" y="4280567"/>
            <a:ext cx="2420678" cy="242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6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B8FD5-8232-4F09-9812-731C7E8A4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Вводная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10DA15-E74A-44DE-83B8-C2D70CEF8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74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b="1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Н</a:t>
            </a:r>
            <a:r>
              <a:rPr lang="ru-RU" b="1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овизна</a:t>
            </a:r>
            <a:r>
              <a:rPr lang="en-US" b="1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:</a:t>
            </a:r>
            <a:r>
              <a:rPr lang="en-US" b="1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b="1" dirty="0">
                <a:solidFill>
                  <a:srgbClr val="143642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Реализация архитектуры Zero-Knowledge </a:t>
            </a:r>
            <a:r>
              <a:rPr lang="ru-RU" b="1" dirty="0" err="1">
                <a:solidFill>
                  <a:srgbClr val="143642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Encryption</a:t>
            </a:r>
            <a:r>
              <a:rPr lang="ru-RU" b="1" dirty="0">
                <a:solidFill>
                  <a:srgbClr val="143642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 на связке клиентского ECDH + AES-GC</a:t>
            </a:r>
            <a:r>
              <a:rPr lang="en-US" b="1" dirty="0">
                <a:solidFill>
                  <a:srgbClr val="143642"/>
                </a:solidFill>
                <a:latin typeface="Bahnschrift SemiBold SemiConden" panose="020B0502040204020203" pitchFamily="34" charset="0"/>
                <a:cs typeface="Times New Roman" panose="02020603050405020304" pitchFamily="18" charset="0"/>
              </a:rPr>
              <a:t>M</a:t>
            </a:r>
            <a:endParaRPr lang="en-US" dirty="0">
              <a:solidFill>
                <a:srgbClr val="0F8B8D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Ц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ель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: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создать мессенджер с архитектурой Zero-Knowledge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Encryption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, где математически доказано, что сервер не может получить доступ к данным. </a:t>
            </a:r>
            <a:endParaRPr lang="ru-RU" dirty="0">
              <a:latin typeface="Bahnschrift SemiBold SemiConden" panose="020B0502040204020203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B443D0-8A7A-46BC-A5F9-3DF51F23A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762" y="5357885"/>
            <a:ext cx="1800476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02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B67D5E7-2FDA-4D56-AB4B-1299D9E01512}"/>
              </a:ext>
            </a:extLst>
          </p:cNvPr>
          <p:cNvSpPr/>
          <p:nvPr/>
        </p:nvSpPr>
        <p:spPr>
          <a:xfrm>
            <a:off x="546437" y="4599293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4)</a:t>
            </a:r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BB72BA-2F83-4392-8170-3E266F8AD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4858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Р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азработать клиент-серверную часть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В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недрить сквозное шифрование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оздать пользовательский интерфейс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О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беспечить безопасность данных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A437F-4BAC-4322-BA9D-034DE6FC8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Задачи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7E1877E-CB74-4646-9E38-75183216E74E}"/>
              </a:ext>
            </a:extLst>
          </p:cNvPr>
          <p:cNvSpPr/>
          <p:nvPr/>
        </p:nvSpPr>
        <p:spPr>
          <a:xfrm>
            <a:off x="554070" y="3736239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3)</a:t>
            </a:r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7DABC16-1944-4E2C-B0E7-48D0C4E7C927}"/>
              </a:ext>
            </a:extLst>
          </p:cNvPr>
          <p:cNvSpPr/>
          <p:nvPr/>
        </p:nvSpPr>
        <p:spPr>
          <a:xfrm>
            <a:off x="546437" y="2723496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</a:t>
            </a:r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1C0C716-2631-44AE-BDF8-DF0431305185}"/>
              </a:ext>
            </a:extLst>
          </p:cNvPr>
          <p:cNvSpPr/>
          <p:nvPr/>
        </p:nvSpPr>
        <p:spPr>
          <a:xfrm>
            <a:off x="554070" y="1785598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</a:t>
            </a:r>
            <a:endParaRPr lang="ru-RU" dirty="0">
              <a:solidFill>
                <a:srgbClr val="EC9A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438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EB8260-EAD1-4F13-8296-CC3AB98B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Методы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186798-2907-4E02-A6FA-EF248F1E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814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Создать приложение с простым стилем </a:t>
            </a:r>
            <a:endParaRPr lang="en-US" dirty="0">
              <a:solidFill>
                <a:srgbClr val="0F8B8D"/>
              </a:solidFill>
              <a:latin typeface="Bahnschrift SemiBold SemiConden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С помощью языков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html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,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css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и Eel фреймворка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Подключить базу данных к приложению</a:t>
            </a:r>
            <a:endParaRPr lang="en-US" dirty="0">
              <a:solidFill>
                <a:srgbClr val="0F8B8D"/>
              </a:solidFill>
              <a:latin typeface="Bahnschrift SemiBold SemiConden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C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помощью библиотеки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PyMongo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endParaRPr lang="en-US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Шифрование сообщений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AES-GCM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шифрование на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Python,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ECDH</a:t>
            </a:r>
            <a:endParaRPr lang="ru-RU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09237F7-A1E7-4CAE-8C2C-468130847D13}"/>
              </a:ext>
            </a:extLst>
          </p:cNvPr>
          <p:cNvSpPr/>
          <p:nvPr/>
        </p:nvSpPr>
        <p:spPr>
          <a:xfrm>
            <a:off x="554070" y="4912930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3)</a:t>
            </a:r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AF39D87-4CFD-41D0-AD59-B548643E001A}"/>
              </a:ext>
            </a:extLst>
          </p:cNvPr>
          <p:cNvSpPr/>
          <p:nvPr/>
        </p:nvSpPr>
        <p:spPr>
          <a:xfrm>
            <a:off x="554070" y="3259965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</a:t>
            </a:r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5CF2B0F-DB64-44A0-9886-98C03F2C5C93}"/>
              </a:ext>
            </a:extLst>
          </p:cNvPr>
          <p:cNvSpPr/>
          <p:nvPr/>
        </p:nvSpPr>
        <p:spPr>
          <a:xfrm>
            <a:off x="554070" y="1785339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</a:t>
            </a:r>
            <a:endParaRPr lang="ru-RU" dirty="0">
              <a:solidFill>
                <a:srgbClr val="EC9A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30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B8684-625A-405F-9332-04904C56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Как работает </a:t>
            </a:r>
            <a:r>
              <a:rPr lang="en-US" b="1" dirty="0">
                <a:solidFill>
                  <a:srgbClr val="0F8B8D"/>
                </a:solidFill>
                <a:latin typeface="Nitro"/>
              </a:rPr>
              <a:t>ECDH</a:t>
            </a:r>
            <a:r>
              <a:rPr lang="ru-RU" b="1" dirty="0">
                <a:solidFill>
                  <a:srgbClr val="0F8B8D"/>
                </a:solidFill>
                <a:latin typeface="Nitro"/>
              </a:rPr>
              <a:t>?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516F5488-7C69-49FE-859D-C780CA17D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109" y="1515585"/>
            <a:ext cx="8683782" cy="4977290"/>
          </a:xfrm>
        </p:spPr>
      </p:pic>
    </p:spTree>
    <p:extLst>
      <p:ext uri="{BB962C8B-B14F-4D97-AF65-F5344CB8AC3E}">
        <p14:creationId xmlns:p14="http://schemas.microsoft.com/office/powerpoint/2010/main" val="3378537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D66D1-0715-45B2-AAD3-060AD0A1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Работа логики мессенджера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439842D-AB01-4FEB-AF27-B12E115DE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616" y="1515291"/>
            <a:ext cx="8892329" cy="4652963"/>
          </a:xfrm>
        </p:spPr>
      </p:pic>
    </p:spTree>
    <p:extLst>
      <p:ext uri="{BB962C8B-B14F-4D97-AF65-F5344CB8AC3E}">
        <p14:creationId xmlns:p14="http://schemas.microsoft.com/office/powerpoint/2010/main" val="39676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422E75-4615-4BB2-BB0C-AD21F805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Общая архитектура приложения</a:t>
            </a:r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679174D7-C992-4C17-840E-570692E6B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910" y="1559486"/>
            <a:ext cx="9092179" cy="4721980"/>
          </a:xfrm>
        </p:spPr>
      </p:pic>
    </p:spTree>
    <p:extLst>
      <p:ext uri="{BB962C8B-B14F-4D97-AF65-F5344CB8AC3E}">
        <p14:creationId xmlns:p14="http://schemas.microsoft.com/office/powerpoint/2010/main" val="395704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F882AB-839B-4304-8441-5D9013D18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6522"/>
            <a:ext cx="12192000" cy="586495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26193-A27C-4EA5-9FA5-12CBCC55A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Вид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32BF6F-16A8-49B4-973F-79636197B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5232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86AD16D7-D6BF-4072-9086-C9279E778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23"/>
          <a:stretch/>
        </p:blipFill>
        <p:spPr>
          <a:xfrm>
            <a:off x="250053" y="386600"/>
            <a:ext cx="11691894" cy="6084799"/>
          </a:xfrm>
        </p:spPr>
      </p:pic>
    </p:spTree>
    <p:extLst>
      <p:ext uri="{BB962C8B-B14F-4D97-AF65-F5344CB8AC3E}">
        <p14:creationId xmlns:p14="http://schemas.microsoft.com/office/powerpoint/2010/main" val="292492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D8B4F46-79B9-470D-9C1A-D0DE89D52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201" y="1706560"/>
            <a:ext cx="8889597" cy="3444880"/>
          </a:xfr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6239CED-F83E-4522-A408-B5414498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F8B8D"/>
                </a:solidFill>
                <a:effectLst/>
                <a:latin typeface="Nitro"/>
                <a:ea typeface="Calibri" panose="020F0502020204030204" pitchFamily="34" charset="0"/>
              </a:rPr>
              <a:t>Вид зашифрованных сообщений</a:t>
            </a:r>
            <a:endParaRPr lang="ru-RU" b="1" dirty="0">
              <a:solidFill>
                <a:srgbClr val="0F8B8D"/>
              </a:solidFill>
              <a:latin typeface="Nitro"/>
            </a:endParaRPr>
          </a:p>
        </p:txBody>
      </p:sp>
    </p:spTree>
    <p:extLst>
      <p:ext uri="{BB962C8B-B14F-4D97-AF65-F5344CB8AC3E}">
        <p14:creationId xmlns:p14="http://schemas.microsoft.com/office/powerpoint/2010/main" val="969218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281D7B-1465-4BF1-8E3D-4653FA0B9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853" y="1727894"/>
            <a:ext cx="9100293" cy="338479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8FB45-6223-4CA9-AC10-4AF1F33E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F8B8D"/>
                </a:solidFill>
                <a:effectLst/>
                <a:latin typeface="Nitro"/>
                <a:ea typeface="Calibri" panose="020F0502020204030204" pitchFamily="34" charset="0"/>
              </a:rPr>
              <a:t>Вид хранения данных о пользователей</a:t>
            </a:r>
            <a:endParaRPr lang="ru-RU" b="1" dirty="0">
              <a:solidFill>
                <a:srgbClr val="0F8B8D"/>
              </a:solidFill>
              <a:latin typeface="Nitro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842083-DC6D-4AEE-B571-F169DA2B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7894"/>
            <a:ext cx="10515600" cy="43513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7556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5F2EF-BE06-46D2-A0FE-B71628BD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Текущее состояние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7C84BD-FD5E-45EC-9C1A-F25325061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565"/>
            <a:ext cx="11608976" cy="48037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Р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еализована безопасная аутентификация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делано полностью клиентское шифрование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Р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еализован пользовательский интерфейс</a:t>
            </a:r>
          </a:p>
          <a:p>
            <a:pPr marL="539750" indent="-53975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П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риложение подключено к базе данных и полностью с ним              взаимодействует</a:t>
            </a:r>
          </a:p>
          <a:p>
            <a:pPr marL="0" indent="0">
              <a:buNone/>
            </a:pPr>
            <a:br>
              <a:rPr lang="en-US" dirty="0"/>
            </a:b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9F2884D-5E4B-4799-AC6E-032CA75ABC9F}"/>
              </a:ext>
            </a:extLst>
          </p:cNvPr>
          <p:cNvSpPr/>
          <p:nvPr/>
        </p:nvSpPr>
        <p:spPr>
          <a:xfrm>
            <a:off x="554070" y="4451248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4)</a:t>
            </a:r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0F7A87F-1280-4B82-AB32-B4CBFF56825F}"/>
              </a:ext>
            </a:extLst>
          </p:cNvPr>
          <p:cNvSpPr/>
          <p:nvPr/>
        </p:nvSpPr>
        <p:spPr>
          <a:xfrm>
            <a:off x="561703" y="3472794"/>
            <a:ext cx="560627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3)</a:t>
            </a:r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0347F26-537D-4755-8A3D-19FEE2D6E527}"/>
              </a:ext>
            </a:extLst>
          </p:cNvPr>
          <p:cNvSpPr/>
          <p:nvPr/>
        </p:nvSpPr>
        <p:spPr>
          <a:xfrm>
            <a:off x="561703" y="2611650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</a:t>
            </a:r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1B4CE3E-2937-408F-9598-ED462FC5BBBC}"/>
              </a:ext>
            </a:extLst>
          </p:cNvPr>
          <p:cNvSpPr/>
          <p:nvPr/>
        </p:nvSpPr>
        <p:spPr>
          <a:xfrm>
            <a:off x="561703" y="1633196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</a:t>
            </a:r>
            <a:endParaRPr lang="ru-RU" dirty="0">
              <a:solidFill>
                <a:srgbClr val="EC9A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5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EBB5C-2DDC-42BE-B658-3EE76B33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Планы на будущее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7A3CF6-7E36-423F-9B99-AB635CA94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962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   С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оздание групповых чатов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О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тправка медиа файлов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,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а также голосовых сообщений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З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вонки с другими людьми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 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К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астомизация интерфейса</a:t>
            </a:r>
          </a:p>
          <a:p>
            <a:pPr marL="0" indent="0">
              <a:buNone/>
            </a:pPr>
            <a:endParaRPr lang="ru-RU" dirty="0"/>
          </a:p>
          <a:p>
            <a:pPr marL="514350" indent="-514350">
              <a:buAutoNum type="arabicParenR"/>
            </a:pP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5A3830B-5ED4-4D70-B781-81892D5E7F8D}"/>
              </a:ext>
            </a:extLst>
          </p:cNvPr>
          <p:cNvSpPr/>
          <p:nvPr/>
        </p:nvSpPr>
        <p:spPr>
          <a:xfrm>
            <a:off x="554070" y="4425122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4)</a:t>
            </a:r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F2A9863-177D-408A-9FB3-1F8B18E3E012}"/>
              </a:ext>
            </a:extLst>
          </p:cNvPr>
          <p:cNvSpPr/>
          <p:nvPr/>
        </p:nvSpPr>
        <p:spPr>
          <a:xfrm>
            <a:off x="554070" y="3459069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3)</a:t>
            </a:r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194C0D6-4C96-4F89-B1E2-2C547551AF13}"/>
              </a:ext>
            </a:extLst>
          </p:cNvPr>
          <p:cNvSpPr/>
          <p:nvPr/>
        </p:nvSpPr>
        <p:spPr>
          <a:xfrm>
            <a:off x="554070" y="2493016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</a:t>
            </a:r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8D1D91E-1A14-416C-A2F9-20DDDA15C5D7}"/>
              </a:ext>
            </a:extLst>
          </p:cNvPr>
          <p:cNvSpPr/>
          <p:nvPr/>
        </p:nvSpPr>
        <p:spPr>
          <a:xfrm>
            <a:off x="554070" y="1553865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</a:t>
            </a:r>
            <a:endParaRPr lang="ru-RU" dirty="0">
              <a:solidFill>
                <a:srgbClr val="EC9A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877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B0CF5-7CBA-4D62-9D05-245BCC22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BF766D-62F2-48F6-8DCA-6675E105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«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П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риватность сообщений в мессенджерах»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dirty="0" err="1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Поначугин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А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В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2400"/>
              </a:spcAft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Основы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AES-GCM,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объяснение сквозного шифрования</a:t>
            </a:r>
            <a:endParaRPr lang="en-US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   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«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В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изуализация работы криптографических алгоритмов»</a:t>
            </a:r>
            <a:r>
              <a:rPr lang="en-US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 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Фомин Д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В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Объяснение работы алгоритма 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ECDH</a:t>
            </a:r>
            <a:endParaRPr lang="ru-RU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2BAA898-CA88-4573-8AFB-4CAAC7329B7E}"/>
              </a:ext>
            </a:extLst>
          </p:cNvPr>
          <p:cNvSpPr/>
          <p:nvPr/>
        </p:nvSpPr>
        <p:spPr>
          <a:xfrm>
            <a:off x="554069" y="3519430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2)</a:t>
            </a:r>
            <a:endParaRPr lang="ru-RU" dirty="0">
              <a:solidFill>
                <a:srgbClr val="EC9A29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46B999A-4D63-476D-90D2-4ABC188377AA}"/>
              </a:ext>
            </a:extLst>
          </p:cNvPr>
          <p:cNvSpPr/>
          <p:nvPr/>
        </p:nvSpPr>
        <p:spPr>
          <a:xfrm>
            <a:off x="554069" y="1951887"/>
            <a:ext cx="568260" cy="573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1)</a:t>
            </a:r>
            <a:endParaRPr lang="ru-RU" dirty="0">
              <a:solidFill>
                <a:srgbClr val="EC9A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87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4E843-9CF4-44A5-9F10-5D34DB54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35CF8D-8116-493A-97A6-3C5E07E0B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	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У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же сейчас проект обладает базовым функционалом для безопасного обмена сообщениями с полной гарантией конфиденциальности.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</a:t>
            </a:r>
          </a:p>
          <a:p>
            <a:pPr marL="0" indent="0">
              <a:lnSpc>
                <a:spcPct val="150000"/>
              </a:lnSpc>
              <a:spcAft>
                <a:spcPts val="2400"/>
              </a:spcAft>
              <a:buNone/>
            </a:pPr>
            <a:r>
              <a:rPr lang="ru-RU" dirty="0">
                <a:solidFill>
                  <a:srgbClr val="143642"/>
                </a:solidFill>
              </a:rPr>
              <a:t>	</a:t>
            </a: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С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ильная криптография — это фундамент цифровой свободы.</a:t>
            </a:r>
            <a:b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</a:br>
            <a:r>
              <a:rPr lang="ru-RU" dirty="0">
                <a:solidFill>
                  <a:srgbClr val="0F8B8D"/>
                </a:solidFill>
                <a:latin typeface="Bahnschrift SemiBold SemiConden" panose="020B0502040204020203" pitchFamily="34" charset="0"/>
              </a:rPr>
              <a:t>О</a:t>
            </a:r>
            <a:r>
              <a:rPr lang="ru-RU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на защищает не только наши тайны, но и национальную безопасность</a:t>
            </a:r>
            <a:r>
              <a:rPr lang="en-US" dirty="0">
                <a:solidFill>
                  <a:srgbClr val="143642"/>
                </a:solidFill>
                <a:latin typeface="Bahnschrift SemiBold SemiConden" panose="020B0502040204020203" pitchFamily="34" charset="0"/>
              </a:rPr>
              <a:t>.</a:t>
            </a:r>
            <a:endParaRPr lang="ru-RU" dirty="0">
              <a:solidFill>
                <a:srgbClr val="143642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52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1D12F-C7B9-4524-A255-D32AD6B48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266" y="2659592"/>
            <a:ext cx="5469467" cy="1325563"/>
          </a:xfrm>
        </p:spPr>
        <p:txBody>
          <a:bodyPr/>
          <a:lstStyle/>
          <a:p>
            <a:r>
              <a:rPr lang="ru-RU" b="1" dirty="0">
                <a:solidFill>
                  <a:srgbClr val="0F8B8D"/>
                </a:solidFill>
                <a:latin typeface="Nitro"/>
              </a:rPr>
              <a:t>Спасибо за внимание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A6F119-3374-4A68-A166-6D8E4CB89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733" y="2860346"/>
            <a:ext cx="1019317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944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333</Words>
  <Application>Microsoft Office PowerPoint</Application>
  <PresentationFormat>Широкоэкранный</PresentationFormat>
  <Paragraphs>69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Bahnschrift SemiBold SemiConden</vt:lpstr>
      <vt:lpstr>Calibri</vt:lpstr>
      <vt:lpstr>Calibri Light</vt:lpstr>
      <vt:lpstr>Nitro</vt:lpstr>
      <vt:lpstr>quote-cjk-patch</vt:lpstr>
      <vt:lpstr>Тема Office</vt:lpstr>
      <vt:lpstr>Презентация PowerPoint</vt:lpstr>
      <vt:lpstr>Вводная часть</vt:lpstr>
      <vt:lpstr>Вводная часть</vt:lpstr>
      <vt:lpstr>Задачи</vt:lpstr>
      <vt:lpstr>Методы работы</vt:lpstr>
      <vt:lpstr>Как работает ECDH?</vt:lpstr>
      <vt:lpstr>Работа логики мессенджера</vt:lpstr>
      <vt:lpstr>Общая архитектура приложения</vt:lpstr>
      <vt:lpstr>Вид пользовательского интерфейса</vt:lpstr>
      <vt:lpstr>Презентация PowerPoint</vt:lpstr>
      <vt:lpstr>Вид зашифрованных сообщений</vt:lpstr>
      <vt:lpstr>Вид хранения данных о пользователей</vt:lpstr>
      <vt:lpstr>Текущее состояние проекта</vt:lpstr>
      <vt:lpstr>Планы на будущее</vt:lpstr>
      <vt:lpstr>Список литературы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ОЛИМПИАДА ШКОЛЬНИКОВ «ШАГ В БУДУЩЕЕ»</dc:title>
  <dc:creator>Никита Чугреев</dc:creator>
  <cp:lastModifiedBy>Никита Чугреев</cp:lastModifiedBy>
  <cp:revision>85</cp:revision>
  <dcterms:created xsi:type="dcterms:W3CDTF">2025-12-05T07:01:33Z</dcterms:created>
  <dcterms:modified xsi:type="dcterms:W3CDTF">2026-02-18T18:54:58Z</dcterms:modified>
</cp:coreProperties>
</file>
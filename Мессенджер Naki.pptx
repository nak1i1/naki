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8" r:id="rId4"/>
    <p:sldId id="267" r:id="rId5"/>
    <p:sldId id="268" r:id="rId6"/>
    <p:sldId id="265" r:id="rId7"/>
    <p:sldId id="266" r:id="rId8"/>
    <p:sldId id="269" r:id="rId9"/>
    <p:sldId id="259" r:id="rId10"/>
    <p:sldId id="262" r:id="rId11"/>
    <p:sldId id="270" r:id="rId12"/>
    <p:sldId id="263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B8D"/>
    <a:srgbClr val="143642"/>
    <a:srgbClr val="EC9A29"/>
    <a:srgbClr val="F8DAB0"/>
    <a:srgbClr val="DA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416C5-33AA-4305-A8E5-EBC57A851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27505F-57BC-4B93-9630-458ADD77B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1F707-CEB8-4417-BC86-CC55FD30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D7E2D-1411-4AED-9D96-EA720713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2A9B43-93B8-4632-8063-73342B8D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06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5797E-27B9-42D8-8655-1C41368AB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21C09-9CAF-4FD6-BD99-29526DCBB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4A7E9-F8A0-4156-AE32-F1E352E90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6E6F16-9129-4EC5-B59E-8C479833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F1D0C4-52BF-4BB7-9336-A4246B45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47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825E4-3410-4B95-8413-A4537B5D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5E2CE4-8003-458E-8CED-401B70661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49C6B5-BC5E-4871-9107-050933D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ED224F-D2C4-419F-977B-F1A7DC35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9D5B03-C994-4946-B67E-3C5B495B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7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00825-2644-4208-8669-30D62BDB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5D05B-B513-429E-AA8D-7B5017969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089305-CBB1-48CF-8B5F-55F884770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9096A1-D0B1-464C-A7BB-19B7ED0B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1D663F-DB28-452E-919B-E24D2BD1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AFFA80-FB96-4F78-82D5-9D90B647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98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A06D3-D30B-47F1-A1D8-A2C934A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06288-8B75-4CA2-8087-613EDD292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79FCC0-FDEA-4F57-97E5-512404360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E2A552-173C-4C55-B7F1-3D1A06EDA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9ED3A9-FB9A-4B2E-9D4C-788866298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BB7BDF-69A2-4F4E-BB64-1A0A580E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8E1E75-5BAB-4009-BBED-42048EA3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859146-C9BA-4843-A65D-2EB8BA92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8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4AB6B-7A1A-44D2-B5C3-ED5852C6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296EAB-AD44-4905-AAA4-96446F60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9BBED1-A864-4872-B8D4-07007334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29F4A1-ACA3-4DB0-ADA1-B934E9B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30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C6215C-4B3A-4AAF-B3AC-4CC9DEBD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481DC9-CDCA-4B93-89D2-443827F0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E6A266-CCC7-4D12-B344-4714A804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35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8912A-AF72-4A01-B25D-FB10AAFE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3A5442-2F37-42A7-9D58-77EE99AEA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8BFC1A-53F8-435A-9DCD-A66500D58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61669B-D33B-42B5-B89D-E8DCC530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C50534-75C8-4611-AE98-BA2A8DA0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FB3D72-755B-42B4-9E98-BB1F85C4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05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566C8-FC35-42BF-BF7C-6477B8EE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C49AC92-FD75-498A-BE63-076682776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48D1AB-659F-4F5A-AE57-72CBD5387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6DBE3F-021A-4838-B78B-E48B0635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90973-43E9-452E-BEFC-2EACF568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2FB8B4-7A30-49E0-B513-67D7F416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8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4433A-FD3C-45F3-A11D-822ABE07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05C816-0F9C-40B4-9333-3FC9FAF54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DA83E-6EB3-4D05-B6ED-88BF5B13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8CAD21-6A2E-480A-A63D-EFAC52B2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FD997-3D01-4521-9C82-4EA7E9BA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21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318A06-E6C2-4834-9F01-76593022C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1FA0EC-78C1-4446-AEC2-72093B55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75996A-A471-49D2-87D7-0C94FBFE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338A14-BD0D-49EE-BAFD-CA26260B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B3C96-70CF-4817-B4C9-E5E3FBD3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72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4AD69-6402-40E8-BF6B-E4C86D50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3CE6B6-06A6-49D3-AB14-2D8C0385E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E3F79-9F6E-46A8-BA85-4E49B330A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AF4FE-3ABE-4D79-BD55-1C23135AD9D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3CB796-EAA0-4E82-8F9F-14866504A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458D06-A24A-4CCB-949F-1FA725D51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8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27A5F-DB54-48A7-98BE-6B46F15B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348" y="342617"/>
            <a:ext cx="10705891" cy="146188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Государственное</a:t>
            </a:r>
            <a:r>
              <a:rPr lang="ru-RU" sz="2300" b="1" spc="-14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бюджетное</a:t>
            </a:r>
            <a:r>
              <a:rPr lang="ru-RU" sz="2300" b="1" spc="-14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общеобразовательное</a:t>
            </a:r>
            <a:r>
              <a:rPr lang="ru-RU" sz="2300" b="1" spc="-14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учреждение</a:t>
            </a:r>
            <a:b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</a:br>
            <a: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города Москвы «</a:t>
            </a:r>
            <a:r>
              <a:rPr lang="ru-RU" sz="2300" b="1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И</a:t>
            </a:r>
            <a:r>
              <a:rPr lang="ru-RU" sz="23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нженерная школа № 1581»</a:t>
            </a:r>
            <a:br>
              <a:rPr lang="ru-RU" sz="2700" b="1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</a:br>
            <a:endParaRPr lang="ru-RU" sz="2700" dirty="0">
              <a:solidFill>
                <a:srgbClr val="143642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EC627B-9E96-4AA6-88B2-398DF7E6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760" y="1964480"/>
            <a:ext cx="10776479" cy="83257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solidFill>
                  <a:srgbClr val="0F8B8D"/>
                </a:solidFill>
                <a:latin typeface="Nitro"/>
              </a:rPr>
              <a:t>Мессенджер </a:t>
            </a:r>
            <a:r>
              <a:rPr lang="en-US" sz="4000" b="1" dirty="0">
                <a:solidFill>
                  <a:srgbClr val="0F8B8D"/>
                </a:solidFill>
                <a:latin typeface="Nitro"/>
              </a:rPr>
              <a:t>Naki</a:t>
            </a:r>
            <a:endParaRPr lang="ru-RU" sz="4000" dirty="0">
              <a:solidFill>
                <a:srgbClr val="0F8B8D"/>
              </a:solidFill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EAA70A-DC32-41F6-8C3C-233D12255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0515" y="2957033"/>
            <a:ext cx="5163724" cy="360678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1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У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частник</a:t>
            </a:r>
            <a:r>
              <a:rPr lang="en-US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ученик 10 </a:t>
            </a: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«Н»</a:t>
            </a:r>
            <a:r>
              <a:rPr lang="ru-RU" sz="2100" spc="-5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класса</a:t>
            </a:r>
            <a:r>
              <a:rPr lang="en-US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ГБОУ Инженерная школа</a:t>
            </a:r>
            <a:endParaRPr lang="en-US" sz="2100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№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1581</a:t>
            </a:r>
            <a:r>
              <a:rPr lang="en-US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1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Ч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угреев </a:t>
            </a:r>
            <a:r>
              <a:rPr lang="ru-RU" sz="21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Н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икита </a:t>
            </a:r>
            <a:r>
              <a:rPr lang="ru-RU" sz="21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ергеевич</a:t>
            </a:r>
            <a:endParaRPr lang="en-US" sz="2100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1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уководитель</a:t>
            </a:r>
            <a:r>
              <a:rPr lang="en-US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: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endParaRPr lang="en-US" sz="2100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педагог</a:t>
            </a:r>
            <a:r>
              <a:rPr lang="en-US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ГБОУ Инженерная школа </a:t>
            </a: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№</a:t>
            </a:r>
            <a:r>
              <a:rPr lang="ru-RU" sz="21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1581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100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Н</a:t>
            </a: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иколаева </a:t>
            </a:r>
            <a:r>
              <a:rPr lang="ru-RU" sz="2100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О</a:t>
            </a: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льга </a:t>
            </a:r>
            <a:r>
              <a:rPr lang="ru-RU" sz="2100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Ю</a:t>
            </a:r>
            <a:r>
              <a:rPr lang="ru-RU" sz="21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рьевна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C83852-54CD-4C67-B46A-AB94E43E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290" y="3836371"/>
            <a:ext cx="1800476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6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94D21-F86E-41B8-8284-CB6AC50C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22138-3C6D-4915-A43F-6AEFBA0F2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4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роблема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разработчики мессенджеров могут расшифровать сообщения.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Ц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ель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создать мессенджер с архитектурой Zero-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Knowledge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Encryption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где математически доказано, что сервер не может получить доступ к данным.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043F50-AF79-4C92-B13B-6289AA3D8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61" y="4280567"/>
            <a:ext cx="2420678" cy="24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6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203CECF-E88A-4ACB-9E98-642F45D59BC3}"/>
              </a:ext>
            </a:extLst>
          </p:cNvPr>
          <p:cNvSpPr/>
          <p:nvPr/>
        </p:nvSpPr>
        <p:spPr>
          <a:xfrm>
            <a:off x="795862" y="3391694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A85BA01-8D6F-4081-B4C0-51565447A988}"/>
              </a:ext>
            </a:extLst>
          </p:cNvPr>
          <p:cNvSpPr/>
          <p:nvPr/>
        </p:nvSpPr>
        <p:spPr>
          <a:xfrm>
            <a:off x="795862" y="5007240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596F036-269B-48E3-AEBC-2AEB165A4672}"/>
              </a:ext>
            </a:extLst>
          </p:cNvPr>
          <p:cNvSpPr/>
          <p:nvPr/>
        </p:nvSpPr>
        <p:spPr>
          <a:xfrm>
            <a:off x="795861" y="1787129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B8260-EAD1-4F13-8296-CC3AB98B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План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186798-2907-4E02-A6FA-EF248F1E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81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Создать приложение с простым стилем 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 помощью языков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html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css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и Eel фреймворка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Подключить базу данных к приложению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C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помощью библиотеки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PyMongo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SSL/TLS шифрование канала связи </a:t>
            </a:r>
            <a:endParaRPr lang="en-US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Шифрование сообщений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AES-GCM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шифрование на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Python,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ECDH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30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D66D1-0715-45B2-AAD3-060AD0A1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Шифрование сообщений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31190EE5-475E-4FA9-8BF3-9AC5A129D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055" y="1690688"/>
            <a:ext cx="8315890" cy="4351338"/>
          </a:xfrm>
        </p:spPr>
      </p:pic>
    </p:spTree>
    <p:extLst>
      <p:ext uri="{BB962C8B-B14F-4D97-AF65-F5344CB8AC3E}">
        <p14:creationId xmlns:p14="http://schemas.microsoft.com/office/powerpoint/2010/main" val="39676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F882AB-839B-4304-8441-5D9013D1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522"/>
            <a:ext cx="12192000" cy="586495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26193-A27C-4EA5-9FA5-12CBCC55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Экран аутентификации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32BF6F-16A8-49B4-973F-79636197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23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6AD16D7-D6BF-4072-9086-C9279E778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23"/>
          <a:stretch/>
        </p:blipFill>
        <p:spPr>
          <a:xfrm>
            <a:off x="250053" y="386600"/>
            <a:ext cx="11691894" cy="6084799"/>
          </a:xfrm>
        </p:spPr>
      </p:pic>
    </p:spTree>
    <p:extLst>
      <p:ext uri="{BB962C8B-B14F-4D97-AF65-F5344CB8AC3E}">
        <p14:creationId xmlns:p14="http://schemas.microsoft.com/office/powerpoint/2010/main" val="2924927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D8B4F46-79B9-470D-9C1A-D0DE89D52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201" y="1706560"/>
            <a:ext cx="8889597" cy="3444880"/>
          </a:xfr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6239CED-F83E-4522-A408-B5414498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8B8D"/>
                </a:solidFill>
                <a:effectLst/>
                <a:latin typeface="Nitro"/>
                <a:ea typeface="Calibri" panose="020F0502020204030204" pitchFamily="34" charset="0"/>
              </a:rPr>
              <a:t>Вид зашифрованных сообщений</a:t>
            </a:r>
            <a:endParaRPr lang="ru-RU" b="1" dirty="0">
              <a:solidFill>
                <a:srgbClr val="0F8B8D"/>
              </a:solidFill>
              <a:latin typeface="Nitro"/>
            </a:endParaRPr>
          </a:p>
        </p:txBody>
      </p:sp>
    </p:spTree>
    <p:extLst>
      <p:ext uri="{BB962C8B-B14F-4D97-AF65-F5344CB8AC3E}">
        <p14:creationId xmlns:p14="http://schemas.microsoft.com/office/powerpoint/2010/main" val="96921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281D7B-1465-4BF1-8E3D-4653FA0B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53" y="1727894"/>
            <a:ext cx="9100293" cy="33847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8FB45-6223-4CA9-AC10-4AF1F33E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8B8D"/>
                </a:solidFill>
                <a:effectLst/>
                <a:latin typeface="Nitro"/>
                <a:ea typeface="Calibri" panose="020F0502020204030204" pitchFamily="34" charset="0"/>
              </a:rPr>
              <a:t>Вид хранения данных о пользователей</a:t>
            </a:r>
            <a:endParaRPr lang="ru-RU" b="1" dirty="0">
              <a:solidFill>
                <a:srgbClr val="0F8B8D"/>
              </a:solidFill>
              <a:latin typeface="Nitro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842083-DC6D-4AEE-B571-F169DA2B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894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755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BA4517-6195-47CD-B430-62F56861983A}"/>
              </a:ext>
            </a:extLst>
          </p:cNvPr>
          <p:cNvSpPr/>
          <p:nvPr/>
        </p:nvSpPr>
        <p:spPr>
          <a:xfrm>
            <a:off x="780253" y="1597357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5902272-1846-43E4-BBE0-C53028532083}"/>
              </a:ext>
            </a:extLst>
          </p:cNvPr>
          <p:cNvSpPr/>
          <p:nvPr/>
        </p:nvSpPr>
        <p:spPr>
          <a:xfrm>
            <a:off x="787398" y="2509443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3F6232A-C146-471B-B6C4-1E66D3D4C37C}"/>
              </a:ext>
            </a:extLst>
          </p:cNvPr>
          <p:cNvSpPr/>
          <p:nvPr/>
        </p:nvSpPr>
        <p:spPr>
          <a:xfrm>
            <a:off x="787397" y="3468929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F0A0274-F053-4F44-9A7D-01A45DEE1BF7}"/>
              </a:ext>
            </a:extLst>
          </p:cNvPr>
          <p:cNvSpPr/>
          <p:nvPr/>
        </p:nvSpPr>
        <p:spPr>
          <a:xfrm>
            <a:off x="819647" y="4428416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F2EF-BE06-46D2-A0FE-B71628BD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Текущее состояние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7C84BD-FD5E-45EC-9C1A-F2532506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70"/>
            <a:ext cx="11608976" cy="48037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еализована безопасная аутентификация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делано полностью клиентское шифрование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еализован пользовательский интерфейс</a:t>
            </a:r>
          </a:p>
          <a:p>
            <a:pPr marL="539750" indent="-53975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риложение подключено к базе данных и полностью с ним              взаимодействует</a:t>
            </a:r>
          </a:p>
          <a:p>
            <a:pPr marL="0" indent="0">
              <a:buNone/>
            </a:pP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4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9ACD31D-EAEC-4AF8-979B-DE442C05736D}"/>
              </a:ext>
            </a:extLst>
          </p:cNvPr>
          <p:cNvSpPr/>
          <p:nvPr/>
        </p:nvSpPr>
        <p:spPr>
          <a:xfrm>
            <a:off x="774698" y="1595231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824F9A0-25C5-4FA5-8663-E1B35CC85829}"/>
              </a:ext>
            </a:extLst>
          </p:cNvPr>
          <p:cNvSpPr/>
          <p:nvPr/>
        </p:nvSpPr>
        <p:spPr>
          <a:xfrm>
            <a:off x="774696" y="2544935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C32E662-BE54-4CAF-BB3F-94AE53E00DD7}"/>
              </a:ext>
            </a:extLst>
          </p:cNvPr>
          <p:cNvSpPr/>
          <p:nvPr/>
        </p:nvSpPr>
        <p:spPr>
          <a:xfrm>
            <a:off x="774697" y="3494640"/>
            <a:ext cx="491067" cy="5027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C0BE24E-90F7-4426-8069-747CF8F1362D}"/>
              </a:ext>
            </a:extLst>
          </p:cNvPr>
          <p:cNvSpPr/>
          <p:nvPr/>
        </p:nvSpPr>
        <p:spPr>
          <a:xfrm>
            <a:off x="796128" y="4472990"/>
            <a:ext cx="491070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EBB5C-2DDC-42BE-B658-3EE76B33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Планы на будущее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7A3CF6-7E36-423F-9B99-AB635CA9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96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   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оздание групповых чатов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тправка медиа файлов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а также голосовых сообщений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З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вонки с другими людьми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К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астомизация интерфейса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287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7BB158F-0074-4C4B-B228-7DE28E1B5243}"/>
              </a:ext>
            </a:extLst>
          </p:cNvPr>
          <p:cNvSpPr/>
          <p:nvPr/>
        </p:nvSpPr>
        <p:spPr>
          <a:xfrm>
            <a:off x="801185" y="3590072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BF2571C-455F-4478-8EB4-53601C5B5CF1}"/>
              </a:ext>
            </a:extLst>
          </p:cNvPr>
          <p:cNvSpPr/>
          <p:nvPr/>
        </p:nvSpPr>
        <p:spPr>
          <a:xfrm>
            <a:off x="753900" y="1953787"/>
            <a:ext cx="491067" cy="5027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B0CF5-7CBA-4D62-9D05-245BCC22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F766D-62F2-48F6-8DCA-6675E105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   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риватность сообщений в мессенджерах»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Поначугин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А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Основы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AES-GCM,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объяснение сквозного шифрования</a:t>
            </a:r>
            <a:endParaRPr lang="en-US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   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В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изуализация работы криптографических алгоритмов»</a:t>
            </a:r>
            <a:r>
              <a:rPr lang="en-US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Фомин Д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Объяснение работы алгоритма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ECDH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68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4E843-9CF4-44A5-9F10-5D34DB54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35CF8D-8116-493A-97A6-3C5E07E0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	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У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же сейчас проект обладает базовым функционалом для безопасного обмена сообщениями с полной гарантией конфиденциальности.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</a:p>
          <a:p>
            <a:pPr marL="0" indent="0">
              <a:lnSpc>
                <a:spcPct val="150000"/>
              </a:lnSpc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</a:rPr>
              <a:t>	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ильная криптография — это фундамент цифровой свободы.</a:t>
            </a:r>
            <a:b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</a:b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на защищает не только наши тайны, но и национальную безопасность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2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1D12F-C7B9-4524-A255-D32AD6B48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266" y="2659592"/>
            <a:ext cx="5469467" cy="1325563"/>
          </a:xfrm>
        </p:spPr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Спасибо 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A6F119-3374-4A68-A166-6D8E4CB89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33" y="2860346"/>
            <a:ext cx="101931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944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273</Words>
  <Application>Microsoft Office PowerPoint</Application>
  <PresentationFormat>Широкоэкранный</PresentationFormat>
  <Paragraphs>42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Bahnschrift SemiBold SemiConden</vt:lpstr>
      <vt:lpstr>Calibri</vt:lpstr>
      <vt:lpstr>Calibri Light</vt:lpstr>
      <vt:lpstr>Nitro</vt:lpstr>
      <vt:lpstr>quote-cjk-patch</vt:lpstr>
      <vt:lpstr>Тема Office</vt:lpstr>
      <vt:lpstr>Государственное бюджетное общеобразовательное учреждение  города Москвы «Инженерная школа № 1581» </vt:lpstr>
      <vt:lpstr>Введение</vt:lpstr>
      <vt:lpstr>План работы</vt:lpstr>
      <vt:lpstr>Шифрование сообщений</vt:lpstr>
      <vt:lpstr>Экран аутентификации</vt:lpstr>
      <vt:lpstr>Презентация PowerPoint</vt:lpstr>
      <vt:lpstr>Вид зашифрованных сообщений</vt:lpstr>
      <vt:lpstr>Вид хранения данных о пользователей</vt:lpstr>
      <vt:lpstr>Текущее состояние проекта</vt:lpstr>
      <vt:lpstr>Планы на будущее</vt:lpstr>
      <vt:lpstr>Список литературы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ОЛИМПИАДА ШКОЛЬНИКОВ «ШАГ В БУДУЩЕЕ»</dc:title>
  <dc:creator>Никита Чугреев</dc:creator>
  <cp:lastModifiedBy>Никита Чугреев</cp:lastModifiedBy>
  <cp:revision>75</cp:revision>
  <dcterms:created xsi:type="dcterms:W3CDTF">2025-12-05T07:01:33Z</dcterms:created>
  <dcterms:modified xsi:type="dcterms:W3CDTF">2026-02-03T13:40:40Z</dcterms:modified>
</cp:coreProperties>
</file>
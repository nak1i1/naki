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7" r:id="rId3"/>
    <p:sldId id="258" r:id="rId4"/>
    <p:sldId id="267" r:id="rId5"/>
    <p:sldId id="268" r:id="rId6"/>
    <p:sldId id="265" r:id="rId7"/>
    <p:sldId id="266" r:id="rId8"/>
    <p:sldId id="269" r:id="rId9"/>
    <p:sldId id="259" r:id="rId10"/>
    <p:sldId id="262" r:id="rId11"/>
    <p:sldId id="270" r:id="rId12"/>
    <p:sldId id="263" r:id="rId13"/>
    <p:sldId id="264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8B8D"/>
    <a:srgbClr val="143642"/>
    <a:srgbClr val="EC9A29"/>
    <a:srgbClr val="F8DAB0"/>
    <a:srgbClr val="DAD2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5416C5-33AA-4305-A8E5-EBC57A8510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727505F-57BC-4B93-9630-458ADD77BC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1F707-CEB8-4417-BC86-CC55FD302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F4FE-3ABE-4D79-BD55-1C23135AD9DB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1D7E2D-1411-4AED-9D96-EA7207139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2A9B43-93B8-4632-8063-73342B8DE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1069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95797E-27B9-42D8-8655-1C41368AB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921C09-9CAF-4FD6-BD99-29526DCBB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B4A7E9-F8A0-4156-AE32-F1E352E90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F4FE-3ABE-4D79-BD55-1C23135AD9DB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6E6F16-9129-4EC5-B59E-8C4798330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F1D0C4-52BF-4BB7-9336-A4246B45E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5477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B825E4-3410-4B95-8413-A4537B5D4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F5E2CE4-8003-458E-8CED-401B70661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49C6B5-BC5E-4871-9107-050933D1A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F4FE-3ABE-4D79-BD55-1C23135AD9DB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ED224F-D2C4-419F-977B-F1A7DC354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9D5B03-C994-4946-B67E-3C5B495BF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7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300825-2644-4208-8669-30D62BDB8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C5D05B-B513-429E-AA8D-7B5017969A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C089305-CBB1-48CF-8B5F-55F8847704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49096A1-D0B1-464C-A7BB-19B7ED0B3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F4FE-3ABE-4D79-BD55-1C23135AD9DB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D1D663F-DB28-452E-919B-E24D2BD14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6AFFA80-FB96-4F78-82D5-9D90B647B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985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8A06D3-D30B-47F1-A1D8-A2C934A1A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BF06288-8B75-4CA2-8087-613EDD292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C79FCC0-FDEA-4F57-97E5-512404360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5E2A552-173C-4C55-B7F1-3D1A06EDAE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A9ED3A9-FB9A-4B2E-9D4C-7888662986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6BB7BDF-69A2-4F4E-BB64-1A0A580EA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F4FE-3ABE-4D79-BD55-1C23135AD9DB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18E1E75-5BAB-4009-BBED-42048EA3E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8859146-C9BA-4843-A65D-2EB8BA925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184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E4AB6B-7A1A-44D2-B5C3-ED5852C68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7296EAB-AD44-4905-AAA4-96446F605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F4FE-3ABE-4D79-BD55-1C23135AD9DB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B9BBED1-A864-4872-B8D4-07007334F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829F4A1-ACA3-4DB0-ADA1-B934E9BD2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4303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EC6215C-4B3A-4AAF-B3AC-4CC9DEBD5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F4FE-3ABE-4D79-BD55-1C23135AD9DB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F481DC9-CDCA-4B93-89D2-443827F0E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E6A266-CCC7-4D12-B344-4714A8047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0359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D8912A-AF72-4A01-B25D-FB10AAFE6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3A5442-2F37-42A7-9D58-77EE99AEA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48BFC1A-53F8-435A-9DCD-A66500D58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F61669B-D33B-42B5-B89D-E8DCC5307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F4FE-3ABE-4D79-BD55-1C23135AD9DB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8C50534-75C8-4611-AE98-BA2A8DA0A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FB3D72-755B-42B4-9E98-BB1F85C4E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3050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566C8-FC35-42BF-BF7C-6477B8EEE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C49AC92-FD75-498A-BE63-076682776A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548D1AB-659F-4F5A-AE57-72CBD5387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36DBE3F-021A-4838-B78B-E48B0635C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F4FE-3ABE-4D79-BD55-1C23135AD9DB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590973-43E9-452E-BEFC-2EACF5687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A2FB8B4-7A30-49E0-B513-67D7F416D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9383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74433A-FD3C-45F3-A11D-822ABE071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905C816-0F9C-40B4-9333-3FC9FAF54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0DA83E-6EB3-4D05-B6ED-88BF5B132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F4FE-3ABE-4D79-BD55-1C23135AD9DB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8CAD21-6A2E-480A-A63D-EFAC52B2E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DFD997-3D01-4521-9C82-4EA7E9BAE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8214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C318A06-E6C2-4834-9F01-76593022C7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D1FA0EC-78C1-4446-AEC2-72093B555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75996A-A471-49D2-87D7-0C94FBFE1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F4FE-3ABE-4D79-BD55-1C23135AD9DB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338A14-BD0D-49EE-BAFD-CA26260B0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8B3C96-70CF-4817-B4C9-E5E3FBD31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2722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84AD69-6402-40E8-BF6B-E4C86D507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B3CE6B6-06A6-49D3-AB14-2D8C0385E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9E3F79-9F6E-46A8-BA85-4E49B330AF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1AF4FE-3ABE-4D79-BD55-1C23135AD9DB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3CB796-EAA0-4E82-8F9F-14866504AF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458D06-A24A-4CCB-949F-1FA725D519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4896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327A5F-DB54-48A7-98BE-6B46F15B8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347" y="342617"/>
            <a:ext cx="11597049" cy="1461887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ru-RU" sz="3100" b="1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  <a:t>Государственное</a:t>
            </a:r>
            <a:r>
              <a:rPr lang="ru-RU" sz="3100" b="1" spc="-140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  <a:t> </a:t>
            </a:r>
            <a:r>
              <a:rPr lang="ru-RU" sz="3100" b="1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  <a:t>бюджетное</a:t>
            </a:r>
            <a:r>
              <a:rPr lang="ru-RU" sz="3100" b="1" spc="-140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  <a:t> </a:t>
            </a:r>
            <a:r>
              <a:rPr lang="ru-RU" sz="3100" b="1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  <a:t>общеобразовательное</a:t>
            </a:r>
            <a:r>
              <a:rPr lang="ru-RU" sz="3100" b="1" spc="-140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  <a:t> </a:t>
            </a:r>
            <a:r>
              <a:rPr lang="ru-RU" sz="3100" b="1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  <a:t>учреждение города Москвы «</a:t>
            </a:r>
            <a:r>
              <a:rPr lang="ru-RU" sz="3100" b="1" dirty="0">
                <a:solidFill>
                  <a:srgbClr val="0F8B8D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  <a:t>И</a:t>
            </a:r>
            <a:r>
              <a:rPr lang="ru-RU" sz="3100" b="1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  <a:t>нженерная школа № 1581»</a:t>
            </a:r>
            <a:br>
              <a:rPr lang="ru-RU" sz="2700" b="1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</a:br>
            <a:endParaRPr lang="ru-RU" sz="2700" dirty="0">
              <a:solidFill>
                <a:srgbClr val="143642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AEC627B-9E96-4AA6-88B2-398DF7E67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7592" y="1536111"/>
            <a:ext cx="10776479" cy="1325563"/>
          </a:xfrm>
        </p:spPr>
        <p:txBody>
          <a:bodyPr>
            <a:normAutofit/>
          </a:bodyPr>
          <a:lstStyle/>
          <a:p>
            <a:pPr algn="ctr"/>
            <a:r>
              <a:rPr lang="ru-RU" sz="6000" b="1" dirty="0">
                <a:solidFill>
                  <a:srgbClr val="0F8B8D"/>
                </a:solidFill>
                <a:latin typeface="Nitro"/>
              </a:rPr>
              <a:t>Мессенджер </a:t>
            </a:r>
            <a:r>
              <a:rPr lang="en-US" sz="6000" b="1" dirty="0">
                <a:solidFill>
                  <a:srgbClr val="0F8B8D"/>
                </a:solidFill>
                <a:latin typeface="Nitro"/>
              </a:rPr>
              <a:t>Naki</a:t>
            </a:r>
            <a:endParaRPr lang="ru-RU" sz="6000" dirty="0">
              <a:solidFill>
                <a:srgbClr val="0F8B8D"/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6B0BABE-5C8C-4283-A69A-4795C2DED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945" y="3319462"/>
            <a:ext cx="5068887" cy="278152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У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частник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: 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ученик 10 </a:t>
            </a:r>
            <a:r>
              <a:rPr lang="ru-RU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  <a:t>«Н»</a:t>
            </a:r>
            <a:r>
              <a:rPr lang="ru-RU" spc="-50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  <a:t> </a:t>
            </a:r>
            <a:r>
              <a:rPr lang="ru-RU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  <a:t>класса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ГБОУ Инженерная школа </a:t>
            </a:r>
            <a:r>
              <a:rPr lang="ru-RU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  <a:t>№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1581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Ч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угреев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Н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икита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С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ергеевич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FEAA70A-DC32-41F6-8C3C-233D12255B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76872" y="3324224"/>
            <a:ext cx="4775340" cy="278152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Р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уководитель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: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педагог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ГБОУ Инженерная школа </a:t>
            </a:r>
            <a:r>
              <a:rPr lang="ru-RU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  <a:t>№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1581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dirty="0">
                <a:solidFill>
                  <a:srgbClr val="0F8B8D"/>
                </a:solidFill>
                <a:effectLst/>
                <a:latin typeface="Bahnschrift SemiBold SemiConden" panose="020B0502040204020203" pitchFamily="34" charset="0"/>
                <a:ea typeface="Times New Roman" panose="02020603050405020304" pitchFamily="18" charset="0"/>
              </a:rPr>
              <a:t>Н</a:t>
            </a:r>
            <a:r>
              <a:rPr lang="ru-RU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Times New Roman" panose="02020603050405020304" pitchFamily="18" charset="0"/>
              </a:rPr>
              <a:t>иколаева </a:t>
            </a:r>
            <a:r>
              <a:rPr lang="ru-RU" dirty="0">
                <a:solidFill>
                  <a:srgbClr val="0F8B8D"/>
                </a:solidFill>
                <a:effectLst/>
                <a:latin typeface="Bahnschrift SemiBold SemiConden" panose="020B0502040204020203" pitchFamily="34" charset="0"/>
                <a:ea typeface="Times New Roman" panose="02020603050405020304" pitchFamily="18" charset="0"/>
              </a:rPr>
              <a:t>О</a:t>
            </a:r>
            <a:r>
              <a:rPr lang="ru-RU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Times New Roman" panose="02020603050405020304" pitchFamily="18" charset="0"/>
              </a:rPr>
              <a:t>льга </a:t>
            </a:r>
            <a:r>
              <a:rPr lang="ru-RU" dirty="0">
                <a:solidFill>
                  <a:srgbClr val="0F8B8D"/>
                </a:solidFill>
                <a:effectLst/>
                <a:latin typeface="Bahnschrift SemiBold SemiConden" panose="020B0502040204020203" pitchFamily="34" charset="0"/>
                <a:ea typeface="Times New Roman" panose="02020603050405020304" pitchFamily="18" charset="0"/>
              </a:rPr>
              <a:t>Ю</a:t>
            </a:r>
            <a:r>
              <a:rPr lang="ru-RU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Times New Roman" panose="02020603050405020304" pitchFamily="18" charset="0"/>
              </a:rPr>
              <a:t>рьевна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AC83852-54CD-4C67-B46A-AB94E43E6C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593" y="5484113"/>
            <a:ext cx="1800476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269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D94D21-F86E-41B8-8284-CB6AC50CE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8B8D"/>
                </a:solidFill>
                <a:latin typeface="Nitro"/>
              </a:rPr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922138-3C6D-4915-A43F-6AEFBA0F2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8242"/>
            <a:ext cx="10515600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П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роблема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: 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разработчики мессенджеров могут расшифровать сообщения.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Ц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ель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: 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создать мессенджер с архитектурой Zero-</a:t>
            </a:r>
            <a:r>
              <a:rPr lang="ru-RU" dirty="0" err="1">
                <a:solidFill>
                  <a:srgbClr val="143642"/>
                </a:solidFill>
                <a:latin typeface="Bahnschrift SemiBold SemiConden" panose="020B0502040204020203" pitchFamily="34" charset="0"/>
              </a:rPr>
              <a:t>Knowledge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dirty="0" err="1">
                <a:solidFill>
                  <a:srgbClr val="143642"/>
                </a:solidFill>
                <a:latin typeface="Bahnschrift SemiBold SemiConden" panose="020B0502040204020203" pitchFamily="34" charset="0"/>
              </a:rPr>
              <a:t>Encryption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, где математически доказано, что сервер не может получить доступ к данным.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1043F50-AF79-4C92-B13B-6289AA3D8B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661" y="4280567"/>
            <a:ext cx="2420678" cy="242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068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2203CECF-E88A-4ACB-9E98-642F45D59BC3}"/>
              </a:ext>
            </a:extLst>
          </p:cNvPr>
          <p:cNvSpPr/>
          <p:nvPr/>
        </p:nvSpPr>
        <p:spPr>
          <a:xfrm>
            <a:off x="795862" y="3391694"/>
            <a:ext cx="491067" cy="50270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AA85BA01-8D6F-4081-B4C0-51565447A988}"/>
              </a:ext>
            </a:extLst>
          </p:cNvPr>
          <p:cNvSpPr/>
          <p:nvPr/>
        </p:nvSpPr>
        <p:spPr>
          <a:xfrm>
            <a:off x="795862" y="5007240"/>
            <a:ext cx="491067" cy="50270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6596F036-269B-48E3-AEBC-2AEB165A4672}"/>
              </a:ext>
            </a:extLst>
          </p:cNvPr>
          <p:cNvSpPr/>
          <p:nvPr/>
        </p:nvSpPr>
        <p:spPr>
          <a:xfrm>
            <a:off x="795861" y="1787129"/>
            <a:ext cx="491067" cy="50270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C9A29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EB8260-EAD1-4F13-8296-CC3AB98BC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8B8D"/>
                </a:solidFill>
                <a:latin typeface="Nitro"/>
              </a:rPr>
              <a:t>План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186798-2907-4E02-A6FA-EF248F1E1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8145"/>
            <a:ext cx="10515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1)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  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Создать приложение с простым стилем </a:t>
            </a:r>
            <a:endParaRPr lang="en-US" dirty="0">
              <a:solidFill>
                <a:srgbClr val="0F8B8D"/>
              </a:solidFill>
              <a:latin typeface="Bahnschrift SemiBold SemiConden" panose="020B0502040204020203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С помощью языков </a:t>
            </a:r>
            <a:r>
              <a:rPr lang="ru-RU" dirty="0" err="1">
                <a:solidFill>
                  <a:srgbClr val="143642"/>
                </a:solidFill>
                <a:latin typeface="Bahnschrift SemiBold SemiConden" panose="020B0502040204020203" pitchFamily="34" charset="0"/>
              </a:rPr>
              <a:t>html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, </a:t>
            </a:r>
            <a:r>
              <a:rPr lang="ru-RU" dirty="0" err="1">
                <a:solidFill>
                  <a:srgbClr val="143642"/>
                </a:solidFill>
                <a:latin typeface="Bahnschrift SemiBold SemiConden" panose="020B0502040204020203" pitchFamily="34" charset="0"/>
              </a:rPr>
              <a:t>css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и Eel фреймворка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2)   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Подключить базу данных к приложению</a:t>
            </a:r>
            <a:endParaRPr lang="en-US" dirty="0">
              <a:solidFill>
                <a:srgbClr val="0F8B8D"/>
              </a:solidFill>
              <a:latin typeface="Bahnschrift SemiBold SemiConden" panose="020B0502040204020203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</a:pP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C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помощью библиотеки </a:t>
            </a:r>
            <a:r>
              <a:rPr lang="ru-RU" dirty="0" err="1">
                <a:solidFill>
                  <a:srgbClr val="143642"/>
                </a:solidFill>
                <a:latin typeface="Bahnschrift SemiBold SemiConden" panose="020B0502040204020203" pitchFamily="34" charset="0"/>
              </a:rPr>
              <a:t>PyMongo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, SSL/TLS шифрование канала связи </a:t>
            </a:r>
            <a:endParaRPr lang="en-US" dirty="0">
              <a:solidFill>
                <a:srgbClr val="143642"/>
              </a:solidFill>
              <a:latin typeface="Bahnschrift SemiBold SemiConden" panose="020B0502040204020203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3) 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 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Шифрование сообщений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AES-GCM 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шифрование на 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Python,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ECDH</a:t>
            </a:r>
            <a:endParaRPr lang="ru-RU" dirty="0">
              <a:solidFill>
                <a:srgbClr val="143642"/>
              </a:solidFill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303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9D66D1-0715-45B2-AAD3-060AD0A13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8B8D"/>
                </a:solidFill>
                <a:latin typeface="Nitro"/>
              </a:rPr>
              <a:t>Шифрование сообщений</a:t>
            </a:r>
          </a:p>
        </p:txBody>
      </p:sp>
      <p:pic>
        <p:nvPicPr>
          <p:cNvPr id="15" name="Объект 14">
            <a:extLst>
              <a:ext uri="{FF2B5EF4-FFF2-40B4-BE49-F238E27FC236}">
                <a16:creationId xmlns:a16="http://schemas.microsoft.com/office/drawing/2014/main" id="{31190EE5-475E-4FA9-8BF3-9AC5A129D3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055" y="1690688"/>
            <a:ext cx="8315890" cy="4351338"/>
          </a:xfrm>
        </p:spPr>
      </p:pic>
    </p:spTree>
    <p:extLst>
      <p:ext uri="{BB962C8B-B14F-4D97-AF65-F5344CB8AC3E}">
        <p14:creationId xmlns:p14="http://schemas.microsoft.com/office/powerpoint/2010/main" val="396763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4F882AB-839B-4304-8441-5D9013D18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6522"/>
            <a:ext cx="12192000" cy="586495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826193-A27C-4EA5-9FA5-12CBCC55A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8B8D"/>
                </a:solidFill>
                <a:latin typeface="Nitro"/>
              </a:rPr>
              <a:t>Экран аутентификации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32BF6F-16A8-49B4-973F-79636197B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5232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86AD16D7-D6BF-4072-9086-C9279E7789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123"/>
          <a:stretch/>
        </p:blipFill>
        <p:spPr>
          <a:xfrm>
            <a:off x="250053" y="386600"/>
            <a:ext cx="11691894" cy="6084799"/>
          </a:xfrm>
        </p:spPr>
      </p:pic>
    </p:spTree>
    <p:extLst>
      <p:ext uri="{BB962C8B-B14F-4D97-AF65-F5344CB8AC3E}">
        <p14:creationId xmlns:p14="http://schemas.microsoft.com/office/powerpoint/2010/main" val="2924927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5D8B4F46-79B9-470D-9C1A-D0DE89D529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201" y="1706560"/>
            <a:ext cx="8889597" cy="3444880"/>
          </a:xfr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6239CED-F83E-4522-A408-B54144988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0F8B8D"/>
                </a:solidFill>
                <a:effectLst/>
                <a:latin typeface="Nitro"/>
                <a:ea typeface="Calibri" panose="020F0502020204030204" pitchFamily="34" charset="0"/>
              </a:rPr>
              <a:t>Вид зашифрованных сообщений</a:t>
            </a:r>
            <a:endParaRPr lang="ru-RU" b="1" dirty="0">
              <a:solidFill>
                <a:srgbClr val="0F8B8D"/>
              </a:solidFill>
              <a:latin typeface="Nitro"/>
            </a:endParaRPr>
          </a:p>
        </p:txBody>
      </p:sp>
    </p:spTree>
    <p:extLst>
      <p:ext uri="{BB962C8B-B14F-4D97-AF65-F5344CB8AC3E}">
        <p14:creationId xmlns:p14="http://schemas.microsoft.com/office/powerpoint/2010/main" val="969218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A281D7B-1465-4BF1-8E3D-4653FA0B9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853" y="1727894"/>
            <a:ext cx="9100293" cy="338479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48FB45-6223-4CA9-AC10-4AF1F33EB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0F8B8D"/>
                </a:solidFill>
                <a:effectLst/>
                <a:latin typeface="Nitro"/>
                <a:ea typeface="Calibri" panose="020F0502020204030204" pitchFamily="34" charset="0"/>
              </a:rPr>
              <a:t>Вид хранения данных о пользователей</a:t>
            </a:r>
            <a:endParaRPr lang="ru-RU" b="1" dirty="0">
              <a:solidFill>
                <a:srgbClr val="0F8B8D"/>
              </a:solidFill>
              <a:latin typeface="Nitro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842083-DC6D-4AEE-B571-F169DA2B2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7894"/>
            <a:ext cx="10515600" cy="43513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7556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73BA4517-6195-47CD-B430-62F56861983A}"/>
              </a:ext>
            </a:extLst>
          </p:cNvPr>
          <p:cNvSpPr/>
          <p:nvPr/>
        </p:nvSpPr>
        <p:spPr>
          <a:xfrm>
            <a:off x="780253" y="1597357"/>
            <a:ext cx="491067" cy="50270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EC9A29"/>
              </a:solidFill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B5902272-1846-43E4-BBE0-C53028532083}"/>
              </a:ext>
            </a:extLst>
          </p:cNvPr>
          <p:cNvSpPr/>
          <p:nvPr/>
        </p:nvSpPr>
        <p:spPr>
          <a:xfrm>
            <a:off x="787398" y="2509443"/>
            <a:ext cx="491067" cy="50270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C9A29"/>
              </a:solidFill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33F6232A-C146-471B-B6C4-1E66D3D4C37C}"/>
              </a:ext>
            </a:extLst>
          </p:cNvPr>
          <p:cNvSpPr/>
          <p:nvPr/>
        </p:nvSpPr>
        <p:spPr>
          <a:xfrm>
            <a:off x="787397" y="3468929"/>
            <a:ext cx="491067" cy="50270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C9A29"/>
              </a:solidFill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3F0A0274-F053-4F44-9A7D-01A45DEE1BF7}"/>
              </a:ext>
            </a:extLst>
          </p:cNvPr>
          <p:cNvSpPr/>
          <p:nvPr/>
        </p:nvSpPr>
        <p:spPr>
          <a:xfrm>
            <a:off x="819647" y="4428416"/>
            <a:ext cx="491067" cy="50270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C9A29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F5F2EF-BE06-46D2-A0FE-B71628BDD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8B8D"/>
                </a:solidFill>
                <a:latin typeface="Nitro"/>
              </a:rPr>
              <a:t>Текущее состояние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7C84BD-FD5E-45EC-9C1A-F25325061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770"/>
            <a:ext cx="11608976" cy="48037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1)   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Р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еализована безопасная аутентификация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2)  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С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делано полностью клиентское шифрование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3)  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Р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еализован пользовательский интерфейс</a:t>
            </a:r>
          </a:p>
          <a:p>
            <a:pPr marL="539750" indent="-539750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4)  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П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риложение подключено к базе данных и полностью с ним              взаимодействует</a:t>
            </a:r>
          </a:p>
          <a:p>
            <a:pPr marL="0" indent="0">
              <a:buNone/>
            </a:pPr>
            <a:br>
              <a:rPr lang="en-US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45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59ACD31D-EAEC-4AF8-979B-DE442C05736D}"/>
              </a:ext>
            </a:extLst>
          </p:cNvPr>
          <p:cNvSpPr/>
          <p:nvPr/>
        </p:nvSpPr>
        <p:spPr>
          <a:xfrm>
            <a:off x="774698" y="1595231"/>
            <a:ext cx="491067" cy="50270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EC9A29"/>
              </a:solidFill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2824F9A0-25C5-4FA5-8663-E1B35CC85829}"/>
              </a:ext>
            </a:extLst>
          </p:cNvPr>
          <p:cNvSpPr/>
          <p:nvPr/>
        </p:nvSpPr>
        <p:spPr>
          <a:xfrm>
            <a:off x="774696" y="2544935"/>
            <a:ext cx="491067" cy="50270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C9A29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BC32E662-BE54-4CAF-BB3F-94AE53E00DD7}"/>
              </a:ext>
            </a:extLst>
          </p:cNvPr>
          <p:cNvSpPr/>
          <p:nvPr/>
        </p:nvSpPr>
        <p:spPr>
          <a:xfrm>
            <a:off x="774697" y="3494640"/>
            <a:ext cx="491067" cy="50270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C9A29"/>
              </a:solidFill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6C0BE24E-90F7-4426-8069-747CF8F1362D}"/>
              </a:ext>
            </a:extLst>
          </p:cNvPr>
          <p:cNvSpPr/>
          <p:nvPr/>
        </p:nvSpPr>
        <p:spPr>
          <a:xfrm>
            <a:off x="796128" y="4472990"/>
            <a:ext cx="491070" cy="50270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C9A29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AEBB5C-2DDC-42BE-B658-3EE76B333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8B8D"/>
                </a:solidFill>
                <a:latin typeface="Nitro"/>
              </a:rPr>
              <a:t>Планы на будущее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7A3CF6-7E36-423F-9B99-AB635CA94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9962"/>
            <a:ext cx="10515600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2400"/>
              </a:spcBef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1)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    С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оздание групповых чатов</a:t>
            </a:r>
          </a:p>
          <a:p>
            <a:pPr marL="0" indent="0">
              <a:lnSpc>
                <a:spcPct val="150000"/>
              </a:lnSpc>
              <a:spcBef>
                <a:spcPts val="2400"/>
              </a:spcBef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2)  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О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тправка медиа файлов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,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а также голосовых сообщений</a:t>
            </a:r>
          </a:p>
          <a:p>
            <a:pPr marL="0" indent="0">
              <a:lnSpc>
                <a:spcPct val="150000"/>
              </a:lnSpc>
              <a:spcBef>
                <a:spcPts val="2400"/>
              </a:spcBef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3)  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З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вонки с другими людьми</a:t>
            </a:r>
          </a:p>
          <a:p>
            <a:pPr marL="0" indent="0">
              <a:lnSpc>
                <a:spcPct val="150000"/>
              </a:lnSpc>
              <a:spcBef>
                <a:spcPts val="2400"/>
              </a:spcBef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4)  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К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астомизация интерфейса</a:t>
            </a:r>
          </a:p>
          <a:p>
            <a:pPr marL="0" indent="0">
              <a:buNone/>
            </a:pPr>
            <a:endParaRPr lang="ru-RU" dirty="0"/>
          </a:p>
          <a:p>
            <a:pPr marL="514350" indent="-514350">
              <a:buAutoNum type="arabicParenR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2877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67BB158F-0074-4C4B-B228-7DE28E1B5243}"/>
              </a:ext>
            </a:extLst>
          </p:cNvPr>
          <p:cNvSpPr/>
          <p:nvPr/>
        </p:nvSpPr>
        <p:spPr>
          <a:xfrm>
            <a:off x="801185" y="3590072"/>
            <a:ext cx="491067" cy="50270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9BF2571C-455F-4478-8EB4-53601C5B5CF1}"/>
              </a:ext>
            </a:extLst>
          </p:cNvPr>
          <p:cNvSpPr/>
          <p:nvPr/>
        </p:nvSpPr>
        <p:spPr>
          <a:xfrm>
            <a:off x="753900" y="1953787"/>
            <a:ext cx="491067" cy="50270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EC9A29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9B0CF5-7CBA-4D62-9D05-245BCC223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8B8D"/>
                </a:solidFill>
                <a:latin typeface="Nitro"/>
              </a:rPr>
              <a:t>Список литературы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BF766D-62F2-48F6-8DCA-6675E1057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353801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1)    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«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П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риватность сообщений в мессенджерах»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dirty="0" err="1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Поначугин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А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.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В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Основы 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AES-GCM,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объяснение сквозного шифрования</a:t>
            </a:r>
            <a:endParaRPr lang="en-US" dirty="0">
              <a:solidFill>
                <a:srgbClr val="143642"/>
              </a:solidFill>
              <a:latin typeface="Bahnschrift SemiBold SemiConden" panose="020B0502040204020203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2)    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«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В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изуализация работы криптографических алгоритмов»</a:t>
            </a:r>
            <a:r>
              <a:rPr lang="en-US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Фомин Д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.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В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Объяснение работы алгоритма 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ECDH</a:t>
            </a:r>
            <a:endParaRPr lang="ru-RU" dirty="0">
              <a:solidFill>
                <a:srgbClr val="143642"/>
              </a:solidFill>
              <a:latin typeface="Bahnschrift SemiBold SemiConden" panose="020B0502040204020203" pitchFamily="34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687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74E843-9CF4-44A5-9F10-5D34DB54B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8B8D"/>
                </a:solidFill>
                <a:latin typeface="Nitro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35CF8D-8116-493A-97A6-3C5E07E0B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spcAft>
                <a:spcPts val="2400"/>
              </a:spcAft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	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У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же сейчас проект обладает базовым функционалом для безопасного обмена сообщениями с полной гарантией конфиденциальности.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</a:p>
          <a:p>
            <a:pPr marL="0" indent="0">
              <a:lnSpc>
                <a:spcPct val="150000"/>
              </a:lnSpc>
              <a:spcAft>
                <a:spcPts val="2400"/>
              </a:spcAft>
              <a:buNone/>
            </a:pPr>
            <a:r>
              <a:rPr lang="ru-RU" dirty="0">
                <a:solidFill>
                  <a:srgbClr val="143642"/>
                </a:solidFill>
              </a:rPr>
              <a:t>	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С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ильная криптография — это фундамент цифровой свободы.</a:t>
            </a:r>
            <a:b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</a:b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О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на защищает не только наши тайны, но и национальную безопасность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.</a:t>
            </a:r>
            <a:endParaRPr lang="ru-RU" dirty="0">
              <a:solidFill>
                <a:srgbClr val="143642"/>
              </a:solidFill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52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61D12F-C7B9-4524-A255-D32AD6B48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1266" y="2659592"/>
            <a:ext cx="5469467" cy="1325563"/>
          </a:xfrm>
        </p:spPr>
        <p:txBody>
          <a:bodyPr/>
          <a:lstStyle/>
          <a:p>
            <a:r>
              <a:rPr lang="ru-RU" b="1" dirty="0">
                <a:solidFill>
                  <a:srgbClr val="0F8B8D"/>
                </a:solidFill>
                <a:latin typeface="Nitro"/>
              </a:rPr>
              <a:t>Спасибо за внимание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3A6F119-3374-4A68-A166-6D8E4CB890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0733" y="2860346"/>
            <a:ext cx="1019317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8944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1211</TotalTime>
  <Words>271</Words>
  <Application>Microsoft Office PowerPoint</Application>
  <PresentationFormat>Широкоэкранный</PresentationFormat>
  <Paragraphs>42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Bahnschrift SemiBold SemiConden</vt:lpstr>
      <vt:lpstr>Calibri</vt:lpstr>
      <vt:lpstr>Calibri Light</vt:lpstr>
      <vt:lpstr>Nitro</vt:lpstr>
      <vt:lpstr>quote-cjk-patch</vt:lpstr>
      <vt:lpstr>Тема Office</vt:lpstr>
      <vt:lpstr>Государственное бюджетное общеобразовательное учреждение города Москвы «Инженерная школа № 1581» </vt:lpstr>
      <vt:lpstr>Введение</vt:lpstr>
      <vt:lpstr>План работы</vt:lpstr>
      <vt:lpstr>Шифрование сообщений</vt:lpstr>
      <vt:lpstr>Экран аутентификации</vt:lpstr>
      <vt:lpstr>Презентация PowerPoint</vt:lpstr>
      <vt:lpstr>Вид зашифрованных сообщений</vt:lpstr>
      <vt:lpstr>Вид хранения данных о пользователей</vt:lpstr>
      <vt:lpstr>Текущее состояние проекта</vt:lpstr>
      <vt:lpstr>Планы на будущее</vt:lpstr>
      <vt:lpstr>Список литературы</vt:lpstr>
      <vt:lpstr>Заключение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ОЛИМПИАДА ШКОЛЬНИКОВ «ШАГ В БУДУЩЕЕ»</dc:title>
  <dc:creator>Никита Чугреев</dc:creator>
  <cp:lastModifiedBy>Никита Чугреев</cp:lastModifiedBy>
  <cp:revision>74</cp:revision>
  <dcterms:created xsi:type="dcterms:W3CDTF">2025-12-05T07:01:33Z</dcterms:created>
  <dcterms:modified xsi:type="dcterms:W3CDTF">2026-01-28T17:19:37Z</dcterms:modified>
</cp:coreProperties>
</file>